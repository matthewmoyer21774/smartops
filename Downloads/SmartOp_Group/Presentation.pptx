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Data-Driven Inventory Management</a:t>
            </a:r>
          </a:p>
          <a:p>
            <a:pPr algn="ctr">
              <a:defRPr sz="2800">
                <a:solidFill>
                  <a:srgbClr val="00AADC"/>
                </a:solidFill>
              </a:defRPr>
            </a:pPr>
            <a:r>
              <a:t>Perishable SKU Ordering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4D2F0"/>
                </a:solidFill>
              </a:defRPr>
            </a:pPr>
            <a:r>
              <a:t>SmartOp - Final Assignment</a:t>
            </a:r>
          </a:p>
          <a:p>
            <a:pPr algn="ctr">
              <a:defRPr sz="2000">
                <a:solidFill>
                  <a:srgbClr val="96BEE6"/>
                </a:solidFill>
              </a:defRPr>
            </a:pPr>
            <a:r>
              <a:t>KU Leuven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1.  Problem Setup &amp; Cost Structure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2.  Data Exploration &amp; Key Patterns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3.  Demand Forecasting Model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4.  Inventory Simulation Engine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5.  Ordering Policy Design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6.  Backtest Results &amp; Performance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200">
                <a:solidFill>
                  <a:srgbClr val="3C3C3C"/>
                </a:solidFill>
              </a:defRPr>
            </a:pPr>
            <a:r>
              <a:t>7.  Live Game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Setup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Lost-sales model with perishable inventory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Holding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 / unit /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Cheap to hold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Shortage cost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19 / unit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Very expensive to stockout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Expiry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9 /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Moderate waste penalty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2 periods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Orders arrive in 2 days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Shelf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2 periods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FIFO: oldest sold first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645920"/>
            <a:ext cx="4389120" cy="109728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68200"/>
                </a:solidFill>
              </a:defRPr>
            </a:pPr>
            <a:r>
              <a:t>Critical Ratio = 19/20 = 0.95</a:t>
            </a:r>
            <a:br/>
            <a:r>
              <a:t>Target the 95th percentile of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08960"/>
            <a:ext cx="438912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467F"/>
                </a:solidFill>
              </a:defRPr>
            </a:pPr>
            <a:r>
              <a:t>The Core Tension:</a:t>
            </a:r>
            <a:br/>
            <a:r>
              <a:t>Shortage (19) says over-order</a:t>
            </a:r>
            <a:br/>
            <a:r>
              <a:t>Expiry (9) says don't waste</a:t>
            </a:r>
            <a:br/>
            <a:r>
              <a:t>Shelf life (2) limits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Starting position [5, 4, 3]: </a:t>
            </a:r>
            <a:r>
              <a:rPr sz="1600">
                <a:solidFill>
                  <a:srgbClr val="3C3C3C"/>
                </a:solidFill>
              </a:rPr>
              <a:t>5 units arriving tomorrow, 4 fresh on-hand, 3 expiring today = 7 on-hand + 5 pipeline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Game: </a:t>
            </a:r>
            <a:r>
              <a:rPr sz="1600">
                <a:solidFill>
                  <a:srgbClr val="3C3C3C"/>
                </a:solidFill>
              </a:rPr>
              <a:t>26 periods (Jul 2 - Aug 2, 2021), excluding Sundays &amp; holidays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Simulation Sequence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What happens each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640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Start of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51760" cy="1828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Pipeline arrives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Observe inventory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Decide order (arrives t+2)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51760" cy="640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During 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377440"/>
            <a:ext cx="2651760" cy="1828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Demand occurs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FIFO: sell oldest first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Unmet demand = shortage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45920"/>
            <a:ext cx="2651760" cy="640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End of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377440"/>
            <a:ext cx="2651760" cy="1828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Age-1 units expire (cost 9)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Holding cost on remaining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Age-0 becomes age-1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19" y="1645920"/>
            <a:ext cx="2651760" cy="640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Next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2377440"/>
            <a:ext cx="2651760" cy="1828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New shipments arrive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65176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8200"/>
                </a:solidFill>
              </a:defRPr>
            </a:pPr>
            <a: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65176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8200"/>
                </a:solidFill>
              </a:defRPr>
            </a:pPr>
            <a: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65176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E68200"/>
                </a:solidFill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State tracked: </a:t>
            </a:r>
            <a:r>
              <a:rPr sz="1600">
                <a:solidFill>
                  <a:srgbClr val="3C3C3C"/>
                </a:solidFill>
              </a:rPr>
              <a:t>on_hand = [age_0, age_1]  |  pipeline = [arriving_next, arriving_in_2]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Key constraint: </a:t>
            </a:r>
            <a:r>
              <a:rPr sz="1600">
                <a:solidFill>
                  <a:srgbClr val="3C3C3C"/>
                </a:solidFill>
              </a:rPr>
              <a:t>With lead time 2, orders placed today serve demand 2 days from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Exploration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SKU 2921141  |  1,165 training days  |  Sep 2017 - Jul 2021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Sales statistics:</a:t>
            </a:r>
            <a:r>
              <a:rPr sz="16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Mean: 5.0</a:t>
            </a:r>
            <a:r>
              <a:rPr sz="1600">
                <a:solidFill>
                  <a:srgbClr val="3C3C3C"/>
                </a:solidFill>
              </a:rPr>
              <a:t>  |  Median: 4  |  Std: 4.3  |  Max: 24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3C3C3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Promotion effect:</a:t>
            </a:r>
            <a:r>
              <a:rPr sz="16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With promo: </a:t>
            </a:r>
            <a:r>
              <a:rPr sz="1600">
                <a:solidFill>
                  <a:srgbClr val="3C3C3C"/>
                </a:solidFill>
              </a:rPr>
              <a:t>5.77 avg  (+33% uplift)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Without promo: </a:t>
            </a:r>
            <a:r>
              <a:rPr sz="1600">
                <a:solidFill>
                  <a:srgbClr val="3C3C3C"/>
                </a:solidFill>
              </a:rPr>
              <a:t>4.33 avg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3C3C3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Day-of-week effect:</a:t>
            </a:r>
            <a:r>
              <a:rPr sz="16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Saturday: </a:t>
            </a:r>
            <a:r>
              <a:rPr sz="1600">
                <a:solidFill>
                  <a:srgbClr val="3C3C3C"/>
                </a:solidFill>
              </a:rPr>
              <a:t>~2x weekday demand (strongest signal)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Friday: </a:t>
            </a:r>
            <a:r>
              <a:rPr sz="1600">
                <a:solidFill>
                  <a:srgbClr val="3C3C3C"/>
                </a:solidFill>
              </a:rPr>
              <a:t>~1.4x weekday demand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>
                <a:solidFill>
                  <a:srgbClr val="3C3C3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Price sensitivity:</a:t>
            </a:r>
            <a:r>
              <a:rPr sz="16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3C3C3C"/>
                </a:solidFill>
              </a:rPr>
              <a:t>  Low price (&lt;2.5): </a:t>
            </a:r>
            <a:r>
              <a:rPr sz="1600">
                <a:solidFill>
                  <a:srgbClr val="3C3C3C"/>
                </a:solidFill>
              </a:rPr>
              <a:t>mean ~6.3 (independent of promo)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4754880" cy="5486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467F"/>
                </a:solidFill>
              </a:defRPr>
            </a:pPr>
            <a:r>
              <a:t>Test Period Structure (26 days)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2286000"/>
          <a:ext cx="4754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Dates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Promo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Exp. Demand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Jul 2-13 (12d)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Yes (40%)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~6-8 / 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Jul 14-Aug 2 (14d)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~3-5 / day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0" y="4023360"/>
            <a:ext cx="4754880" cy="164592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83232"/>
                </a:solidFill>
              </a:defRPr>
            </a:pPr>
            <a:r>
              <a:t>Key risk: Promo &gt; Non-promo</a:t>
            </a:r>
            <a:br/>
            <a:r>
              <a:t>transition on Jul 14</a:t>
            </a:r>
            <a:br/>
            <a:br/>
            <a:r>
              <a:t>Demand drops suddenly</a:t>
            </a:r>
            <a:br/>
            <a:r>
              <a:t>Excess inventory may expire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Demand Forecasting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LightGBM Quantile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500">
                <a:solidFill>
                  <a:srgbClr val="3C3C3C"/>
                </a:solidFill>
              </a:rPr>
              <a:t>Why quantile regression?</a:t>
            </a:r>
            <a:r>
              <a:rPr sz="15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Need the full demand distribution, not just a point forecast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Directly answers: 'What is the 95th percentile of demand?'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Handles feature interactions (DOW x promo x price)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Trains in &lt; 1 second, robust with 1,165 rows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1500">
                <a:solidFill>
                  <a:srgbClr val="3C3C3C"/>
                </a:solidFill>
              </a:rPr>
              <a:t>5 models trained:</a:t>
            </a:r>
            <a:r>
              <a:rPr sz="1500">
                <a:solidFill>
                  <a:srgbClr val="3C3C3C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Poisson mean model (reference)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>
                <a:solidFill>
                  <a:srgbClr val="3C3C3C"/>
                </a:solidFill>
              </a:defRPr>
            </a:pPr>
            <a:r>
              <a:t>  - Q50, Q75, Q90, Q95 (quantile regression)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45720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467F"/>
                </a:solidFill>
              </a:defRPr>
            </a:pPr>
            <a:r>
              <a:t>8 Features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1031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dow (0-6)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Engineered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Weekly seasonality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is_saturday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Highest demand day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is_friday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2nd highest demand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PROMO_01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Promotion active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PROMO_DEPTH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0-60%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Discount magnitude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PRC_2_norm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Price sensitivity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HOLIDAY_f1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Tomorrow is holiday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HOLIDAY_l1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Yesterday was holiday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114800"/>
            <a:ext cx="5029200" cy="45720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467F"/>
                </a:solidFill>
              </a:defRPr>
            </a:pPr>
            <a:r>
              <a:t>Validation (last 200 days holdout)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75488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18872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Quantile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Pinball Loss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1.552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Q75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1.340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79.5%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0.803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Q95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0.504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93.0%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Ordering Policy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Perishable Newsvendor with Forward Inventory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Oval 4"/>
          <p:cNvSpPr/>
          <p:nvPr/>
        </p:nvSpPr>
        <p:spPr>
          <a:xfrm>
            <a:off x="1737360" y="1371600"/>
            <a:ext cx="548640" cy="548640"/>
          </a:xfrm>
          <a:prstGeom prst="ellipse">
            <a:avLst/>
          </a:prstGeom>
          <a:solidFill>
            <a:srgbClr val="E6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467F"/>
                </a:solidFill>
              </a:defRPr>
            </a:pPr>
            <a:r>
              <a:t>Step 1: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347472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Generate quantile forecasts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for periods t, t+1, t+2, t+3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using known features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(DOW, promo, price, holidays)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rgbClr val="E6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467F"/>
                </a:solidFill>
              </a:defRPr>
            </a:pPr>
            <a:r>
              <a:t>Step 2: Project 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47472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Simulate FIFO + expiry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through t and t+1 to estimate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how much inventory survives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to period t+2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0" y="1371600"/>
            <a:ext cx="548640" cy="548640"/>
          </a:xfrm>
          <a:prstGeom prst="ellipse">
            <a:avLst/>
          </a:prstGeom>
          <a:solidFill>
            <a:srgbClr val="E6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467F"/>
                </a:solidFill>
              </a:defRPr>
            </a:pPr>
            <a:r>
              <a:t>Step 3: Compute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3474720" cy="219456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order = max(0,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  Q95(t+2) - existing_at_t+2)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Capped by max useful demand</a:t>
            </a:r>
          </a:p>
          <a:p>
            <a:pPr algn="ctr">
              <a:spcAft>
                <a:spcPts val="400"/>
              </a:spcAft>
              <a:defRPr sz="1400">
                <a:solidFill>
                  <a:srgbClr val="3C3C3C"/>
                </a:solidFill>
              </a:defRPr>
            </a:pPr>
            <a:r>
              <a:t>Floored by median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029200" cy="109728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8200"/>
                </a:solidFill>
              </a:defRPr>
            </a:pPr>
            <a:r>
              <a:t>End-Game Tapering</a:t>
            </a:r>
            <a:br/>
            <a:r>
              <a:t>&gt;3 periods left: Q95 | 3: Q90 | 2: Q75 | &lt;=1: Q50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120640"/>
            <a:ext cx="5303520" cy="109728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467F"/>
                </a:solidFill>
              </a:defRPr>
            </a:pPr>
            <a:r>
              <a:t>Why this works:</a:t>
            </a:r>
            <a:br/>
            <a:r>
              <a:t>Reactive to actual demand via state updates</a:t>
            </a:r>
            <a:br/>
            <a:r>
              <a:t>Feature-aware (adapts to promo/DOW/price)</a:t>
            </a:r>
            <a:br/>
            <a:r>
              <a:t>Balances shortage vs expiry via quantile + caps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Forward Inventory Projection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How we estimate what survives to t+2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5486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Period t (now)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347472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Pipeline[0] arrives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as age-0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Demand consumes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age-1 first (FIFO)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Age-1 remainder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expires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Age-0 survivors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carry 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5486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Period t+1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474720" cy="347472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Pipeline[1] arrives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as age-0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Carry-forward from t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becomes age-1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Demand consumes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age-1 first (FIFO)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Age-0 survivors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carry forward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474720" cy="548640"/>
          </a:xfrm>
          <a:prstGeom prst="roundRect">
            <a:avLst/>
          </a:prstGeom>
          <a:solidFill>
            <a:srgbClr val="E6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Period t+2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03120"/>
            <a:ext cx="3474720" cy="347472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E6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NEW ORDER arrives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as age-0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Carry-forward from t+1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becomes age-1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(= existing_at_t2)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Order fills the gap</a:t>
            </a:r>
          </a:p>
          <a:p>
            <a:pPr algn="ctr">
              <a:spcAft>
                <a:spcPts val="200"/>
              </a:spcAft>
              <a:defRPr sz="1300">
                <a:solidFill>
                  <a:srgbClr val="3C3C3C"/>
                </a:solidFill>
              </a:defRPr>
            </a:pPr>
            <a:r>
              <a:t>to Q95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004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8200"/>
                </a:solidFill>
              </a:defRPr>
            </a:pPr>
            <a:r>
              <a:t>&gt;&gt;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004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8200"/>
                </a:solidFill>
              </a:defRPr>
            </a:pPr>
            <a:r>
              <a:t>&gt;&gt;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760720"/>
            <a:ext cx="7589520" cy="54864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68200"/>
                </a:solidFill>
              </a:defRPr>
            </a:pPr>
            <a:r>
              <a:t>order = max(0,  Q_target(t+2)  -  existing_at_t2 )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Backtest Results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Policy performance under different demand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463040"/>
          <a:ext cx="8869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Holding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Shortage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Expiry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Median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Q75 demand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639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627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Q90 demand (stress)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1,522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1,520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C3C3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657600"/>
            <a:ext cx="3474720" cy="2286000"/>
          </a:xfrm>
          <a:prstGeom prst="roundRect">
            <a:avLst/>
          </a:prstGeom>
          <a:solidFill>
            <a:srgbClr val="EBFAF0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89646"/>
                </a:solidFill>
              </a:defRPr>
            </a:pPr>
            <a:r>
              <a:t>Median scenario</a:t>
            </a:r>
            <a:br/>
            <a:r>
              <a:t>(most likely)</a:t>
            </a:r>
            <a:br/>
            <a:br/>
            <a:r>
              <a:t>Total: 375</a:t>
            </a:r>
            <a:br/>
            <a:r>
              <a:t>Small unavoidable P2 shortage</a:t>
            </a:r>
            <a:br/>
            <a:r>
              <a:t>Most expiry at promo transition</a:t>
            </a:r>
            <a:br/>
            <a:r>
              <a:t>and end-game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657600"/>
            <a:ext cx="3474720" cy="228600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467F"/>
                </a:solidFill>
              </a:defRPr>
            </a:pPr>
            <a:r>
              <a:t>Key observations</a:t>
            </a:r>
            <a:br/>
            <a:br/>
            <a:r>
              <a:t>P2 shortage is structural</a:t>
            </a:r>
            <a:br/>
            <a:r>
              <a:t>(pipeline gap [5,0])</a:t>
            </a:r>
            <a:br/>
            <a:br/>
            <a:r>
              <a:t>Zero expiry in high-demand</a:t>
            </a:r>
            <a:br/>
            <a:r>
              <a:t>scenarios = no over-ordering</a:t>
            </a:r>
            <a:br/>
            <a:br/>
            <a:r>
              <a:t>Policy adapts in live play</a:t>
            </a:r>
            <a:br/>
            <a:r>
              <a:t>via state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57600"/>
            <a:ext cx="3474720" cy="22860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68200"/>
                </a:solidFill>
              </a:defRPr>
            </a:pPr>
            <a:r>
              <a:t>Live game advantage</a:t>
            </a:r>
            <a:br/>
            <a:br/>
            <a:r>
              <a:t>Actual demand revealed</a:t>
            </a:r>
            <a:br/>
            <a:r>
              <a:t>each period</a:t>
            </a:r>
            <a:br/>
            <a:br/>
            <a:r>
              <a:t>High demand depletes stock</a:t>
            </a:r>
            <a:br/>
            <a:r>
              <a:t>-&gt; higher next order</a:t>
            </a:r>
            <a:br/>
            <a:br/>
            <a:r>
              <a:t>Low demand builds buffer</a:t>
            </a:r>
            <a:br/>
            <a:r>
              <a:t>-&gt; lower next order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defRPr sz="1600">
                <a:solidFill>
                  <a:srgbClr val="B4D2F0"/>
                </a:solidFill>
              </a:defRPr>
            </a:pPr>
            <a:r>
              <a:t>Three modular Python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5486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demand_model.py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74720" cy="457200"/>
          </a:xfrm>
          <a:prstGeom prst="round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Demand Forecasting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3474720" cy="20116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LightGBM quantile regression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5 models (mean, Q50-Q95)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8 engineered features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Trains in &lt; 1 second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5486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inventory_engine.py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474720" cy="457200"/>
          </a:xfrm>
          <a:prstGeom prst="round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Inventory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474720" cy="20116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FIFO + expiry mechanics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Age cohort tracking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Full cost computation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Complete period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5486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play_game.py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474720" cy="457200"/>
          </a:xfrm>
          <a:prstGeom prst="round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Live Game 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51760"/>
            <a:ext cx="3474720" cy="20116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Interactive CLI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Recommended order each period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Forward projection policy</a:t>
            </a:r>
          </a:p>
          <a:p>
            <a:pPr algn="ctr">
              <a:spcAft>
                <a:spcPts val="600"/>
              </a:spcAft>
              <a:defRPr sz="1500">
                <a:solidFill>
                  <a:srgbClr val="3C3C3C"/>
                </a:solidFill>
              </a:defRPr>
            </a:pPr>
            <a:r>
              <a:t>End-game tapering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92608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8200"/>
                </a:solidFill>
              </a:defRPr>
            </a:pPr>
            <a:r>
              <a:t>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2608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68200"/>
                </a:solidFill>
              </a:defRPr>
            </a:pPr>
            <a:r>
              <a:t>&gt;&gt;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029200"/>
            <a:ext cx="9418320" cy="73152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00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68200"/>
                </a:solidFill>
              </a:defRPr>
            </a:pPr>
            <a:r>
              <a:t>Workflow:  Train models once (2s)  &gt;&gt;  Each period: forecast demand, project inventory, recommend order  &gt;&gt;  User confirms or overrides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SmartOp Final Assignment  |  KU Leuven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467F"/>
                </a:solidFill>
              </a:rPr>
              <a:t>LightGBM Quantile &gt; Parametric Distributions: </a:t>
            </a:r>
            <a:r>
              <a:rPr sz="1500">
                <a:solidFill>
                  <a:srgbClr val="3C3C3C"/>
                </a:solidFill>
              </a:rPr>
              <a:t>Data is overdispersed (var/mean = 3.66) with complex interactions. Quantile regression directly outputs percentiles without distributional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467F"/>
                </a:solidFill>
              </a:rPr>
              <a:t>Myopic Newsvendor &gt; Reinforcement Learning: </a:t>
            </a:r>
            <a:r>
              <a:rPr sz="1500">
                <a:solidFill>
                  <a:srgbClr val="3C3C3C"/>
                </a:solidFill>
              </a:rPr>
              <a:t>26 periods + 2-period look-ahead = small problem. Analytical policy is near-optimal, trains instantly, and runs fast during live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467F"/>
                </a:solidFill>
              </a:rPr>
              <a:t>Single-SKU Training &gt; Pooled Model: </a:t>
            </a:r>
            <a:r>
              <a:rPr sz="1500">
                <a:solidFill>
                  <a:srgbClr val="3C3C3C"/>
                </a:solidFill>
              </a:rPr>
              <a:t>1,165 rows is sufficient for 8 features. Other subgroup-109 SKUs have different demand levels (2.9 and 6.9 vs 5.0) - pooling would blur the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467F"/>
                </a:solidFill>
              </a:rPr>
              <a:t>Cost Asymmetry Drives Everything: </a:t>
            </a:r>
            <a:r>
              <a:rPr sz="1500">
                <a:solidFill>
                  <a:srgbClr val="3C3C3C"/>
                </a:solidFill>
              </a:rPr>
              <a:t>Shortage (19) &gt;&gt; Holding (1). One stockout = 19 days of holding. Policy deliberately over-orders, capped only by shelf-life expiry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00467F"/>
                </a:solidFill>
              </a:rPr>
              <a:t>End-Game Tapering: </a:t>
            </a:r>
            <a:r>
              <a:rPr sz="1500">
                <a:solidFill>
                  <a:srgbClr val="3C3C3C"/>
                </a:solidFill>
              </a:rPr>
              <a:t>Progressively reduce target quantile (Q95 &gt; Q90 &gt; Q75 &gt; Q50) as game ends to prevent wasteful final-period expiry.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800">
                <a:solidFill>
                  <a:srgbClr val="00AADC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B4D2F0"/>
                </a:solidFill>
              </a:defRPr>
            </a:pPr>
            <a:r>
              <a:t>   Feature-driven quantile forecasting with LightGBM</a:t>
            </a:r>
          </a:p>
          <a:p>
            <a:pPr algn="ctr">
              <a:spcAft>
                <a:spcPts val="800"/>
              </a:spcAft>
              <a:defRPr sz="1800">
                <a:solidFill>
                  <a:srgbClr val="B4D2F0"/>
                </a:solidFill>
              </a:defRPr>
            </a:pPr>
            <a:r>
              <a:t>   Perishable newsvendor policy with forward FIFO/expiry projection</a:t>
            </a:r>
          </a:p>
          <a:p>
            <a:pPr algn="ctr">
              <a:spcAft>
                <a:spcPts val="800"/>
              </a:spcAft>
              <a:defRPr sz="1800">
                <a:solidFill>
                  <a:srgbClr val="B4D2F0"/>
                </a:solidFill>
              </a:defRPr>
            </a:pPr>
            <a:r>
              <a:t>   Adaptive end-game tapering to minimize waste</a:t>
            </a:r>
          </a:p>
          <a:p>
            <a:pPr algn="ctr">
              <a:spcAft>
                <a:spcPts val="800"/>
              </a:spcAft>
              <a:defRPr sz="1800">
                <a:solidFill>
                  <a:srgbClr val="B4D2F0"/>
                </a:solidFill>
              </a:defRPr>
            </a:pPr>
            <a:r>
              <a:t>   Interactive CLI for fast live-game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